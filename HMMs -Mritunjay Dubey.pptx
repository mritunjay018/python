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Geist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85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itunjay Dubey" userId="6a13cba1e1e92892" providerId="LiveId" clId="{C14BA252-7A47-492C-A3E9-2BEE30D1436E}"/>
    <pc:docChg chg="custSel modSld">
      <pc:chgData name="Mritunjay Dubey" userId="6a13cba1e1e92892" providerId="LiveId" clId="{C14BA252-7A47-492C-A3E9-2BEE30D1436E}" dt="2025-12-02T13:23:31.028" v="9" actId="14100"/>
      <pc:docMkLst>
        <pc:docMk/>
      </pc:docMkLst>
      <pc:sldChg chg="delSp modSp mod">
        <pc:chgData name="Mritunjay Dubey" userId="6a13cba1e1e92892" providerId="LiveId" clId="{C14BA252-7A47-492C-A3E9-2BEE30D1436E}" dt="2025-12-02T13:23:31.028" v="9" actId="14100"/>
        <pc:sldMkLst>
          <pc:docMk/>
          <pc:sldMk cId="0" sldId="262"/>
        </pc:sldMkLst>
        <pc:spChg chg="mod">
          <ac:chgData name="Mritunjay Dubey" userId="6a13cba1e1e92892" providerId="LiveId" clId="{C14BA252-7A47-492C-A3E9-2BEE30D1436E}" dt="2025-12-02T13:23:31.028" v="9" actId="14100"/>
          <ac:spMkLst>
            <pc:docMk/>
            <pc:sldMk cId="0" sldId="262"/>
            <ac:spMk id="4" creationId="{00000000-0000-0000-0000-000000000000}"/>
          </ac:spMkLst>
        </pc:spChg>
        <pc:spChg chg="del">
          <ac:chgData name="Mritunjay Dubey" userId="6a13cba1e1e92892" providerId="LiveId" clId="{C14BA252-7A47-492C-A3E9-2BEE30D1436E}" dt="2025-12-02T13:22:59.358" v="0" actId="478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Mritunjay Dubey" userId="6a13cba1e1e92892" providerId="LiveId" clId="{C14BA252-7A47-492C-A3E9-2BEE30D1436E}" dt="2025-12-02T13:23:07.620" v="2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ritunjay Dubey" userId="6a13cba1e1e92892" providerId="LiveId" clId="{C14BA252-7A47-492C-A3E9-2BEE30D1436E}" dt="2025-12-02T13:23:12.792" v="4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ritunjay Dubey" userId="6a13cba1e1e92892" providerId="LiveId" clId="{C14BA252-7A47-492C-A3E9-2BEE30D1436E}" dt="2025-12-02T13:23:19.461" v="7" actId="20577"/>
          <ac:spMkLst>
            <pc:docMk/>
            <pc:sldMk cId="0" sldId="262"/>
            <ac:spMk id="15" creationId="{00000000-0000-0000-0000-000000000000}"/>
          </ac:spMkLst>
        </pc:spChg>
        <pc:picChg chg="del">
          <ac:chgData name="Mritunjay Dubey" userId="6a13cba1e1e92892" providerId="LiveId" clId="{C14BA252-7A47-492C-A3E9-2BEE30D1436E}" dt="2025-12-02T13:23:14.821" v="5" actId="478"/>
          <ac:picMkLst>
            <pc:docMk/>
            <pc:sldMk cId="0" sldId="262"/>
            <ac:picMk id="1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22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Hidden Markov Models: Unveiling the Invisible Patterns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Discovering the hidden structures that shape observable phenomena through sophisticated probabilistic modelling.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0637877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What is a Hidden Markov Model (HMM)?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Hidden Markov Model is a </a:t>
            </a:r>
            <a:r>
              <a:rPr lang="en-US" sz="16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statistical framework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models systems with hidden states generating observable outputs. Unlike traditional Markov chains where states are directly visible, HMMs work with </a:t>
            </a:r>
            <a:r>
              <a:rPr lang="en-US" sz="16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unobservable states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can only be inferred through their observable emissions.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3541157"/>
            <a:ext cx="6342102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power of HMMs lies in their ability to </a:t>
            </a:r>
            <a:r>
              <a:rPr lang="en-US" sz="16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decode patterns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from sequences of observations, making them invaluable for analysing temporal data where the underlying process is not directly measurable.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601147"/>
            <a:ext cx="8182451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Core Components of an HMM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64143" y="1720096"/>
            <a:ext cx="4221837" cy="3194328"/>
          </a:xfrm>
          <a:prstGeom prst="roundRect">
            <a:avLst>
              <a:gd name="adj" fmla="val 615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005" y="1945958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0067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146" y="2125980"/>
            <a:ext cx="294680" cy="29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005" y="2819162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Hidden States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90005" y="3291245"/>
            <a:ext cx="3770114" cy="139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unobserved conditions or modes of the system that drive behaviour but remain invisible to direct measurement.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4222" y="1720096"/>
            <a:ext cx="4221837" cy="3194328"/>
          </a:xfrm>
          <a:prstGeom prst="roundRect">
            <a:avLst>
              <a:gd name="adj" fmla="val 615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30083" y="1945958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0067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0225" y="2125980"/>
            <a:ext cx="294680" cy="294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30083" y="2819162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Observations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30083" y="3291245"/>
            <a:ext cx="3770114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visible outputs or emissions generated by hidden states that we can actually measure and record.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44301" y="1720096"/>
            <a:ext cx="4221837" cy="3194328"/>
          </a:xfrm>
          <a:prstGeom prst="roundRect">
            <a:avLst>
              <a:gd name="adj" fmla="val 615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0162" y="1945958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0067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0304" y="2125980"/>
            <a:ext cx="294680" cy="294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0162" y="2819162"/>
            <a:ext cx="330446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Transition Probabilities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70162" y="3291245"/>
            <a:ext cx="3770114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likelihood of moving from one hidden state to another, defining the dynamics of state evolution.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64143" y="5132665"/>
            <a:ext cx="6441877" cy="2495669"/>
          </a:xfrm>
          <a:prstGeom prst="roundRect">
            <a:avLst>
              <a:gd name="adj" fmla="val 7874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0005" y="5358527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0067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146" y="5538549"/>
            <a:ext cx="294680" cy="2946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0005" y="6231731"/>
            <a:ext cx="313420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Emission Probabilities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990005" y="6703814"/>
            <a:ext cx="5990153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probability of observing a particular output given that the system is in a specific hidden state.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424261" y="5132665"/>
            <a:ext cx="6441877" cy="2495669"/>
          </a:xfrm>
          <a:prstGeom prst="roundRect">
            <a:avLst>
              <a:gd name="adj" fmla="val 7874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50123" y="5358527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00674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30264" y="5538549"/>
            <a:ext cx="294680" cy="2946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0123" y="6231731"/>
            <a:ext cx="3395305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Initial State Distribution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7650123" y="6703814"/>
            <a:ext cx="5990153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probability distribution over hidden states at the beginning of the observation sequence.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395" y="826294"/>
            <a:ext cx="7771209" cy="122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Key Assumptions Behind HMMs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86395" y="2346127"/>
            <a:ext cx="3787497" cy="2430542"/>
          </a:xfrm>
          <a:prstGeom prst="roundRect">
            <a:avLst>
              <a:gd name="adj" fmla="val 451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3535" y="2346127"/>
            <a:ext cx="91440" cy="2430542"/>
          </a:xfrm>
          <a:prstGeom prst="roundRect">
            <a:avLst>
              <a:gd name="adj" fmla="val 193049"/>
            </a:avLst>
          </a:prstGeom>
          <a:solidFill>
            <a:srgbClr val="006747"/>
          </a:solidFill>
          <a:ln/>
        </p:spPr>
      </p:sp>
      <p:sp>
        <p:nvSpPr>
          <p:cNvPr id="6" name="Text 3"/>
          <p:cNvSpPr/>
          <p:nvPr/>
        </p:nvSpPr>
        <p:spPr>
          <a:xfrm>
            <a:off x="973931" y="2565083"/>
            <a:ext cx="2511862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Markov Assumption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73931" y="2989064"/>
            <a:ext cx="3281005" cy="156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next hidden state depends </a:t>
            </a: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only on the current hidden state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not on the entire history. This memoryless property simplifies computation whilst retaining predictive power.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9988" y="2346127"/>
            <a:ext cx="3787616" cy="2430542"/>
          </a:xfrm>
          <a:prstGeom prst="roundRect">
            <a:avLst>
              <a:gd name="adj" fmla="val 451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47128" y="2346127"/>
            <a:ext cx="91440" cy="2430542"/>
          </a:xfrm>
          <a:prstGeom prst="roundRect">
            <a:avLst>
              <a:gd name="adj" fmla="val 193049"/>
            </a:avLst>
          </a:prstGeom>
          <a:solidFill>
            <a:srgbClr val="006747"/>
          </a:solidFill>
          <a:ln/>
        </p:spPr>
      </p:sp>
      <p:sp>
        <p:nvSpPr>
          <p:cNvPr id="10" name="Text 7"/>
          <p:cNvSpPr/>
          <p:nvPr/>
        </p:nvSpPr>
        <p:spPr>
          <a:xfrm>
            <a:off x="4957524" y="2565083"/>
            <a:ext cx="273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Output Independence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957524" y="2989064"/>
            <a:ext cx="3281124" cy="156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Observations depend </a:t>
            </a: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solely on the current hidden state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independent of previous observations or states. This assumption enables efficient inference algorithms.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6395" y="4972764"/>
            <a:ext cx="3787497" cy="2430542"/>
          </a:xfrm>
          <a:prstGeom prst="roundRect">
            <a:avLst>
              <a:gd name="adj" fmla="val 451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3535" y="4972764"/>
            <a:ext cx="91440" cy="2430542"/>
          </a:xfrm>
          <a:prstGeom prst="roundRect">
            <a:avLst>
              <a:gd name="adj" fmla="val 193049"/>
            </a:avLst>
          </a:prstGeom>
          <a:solidFill>
            <a:srgbClr val="006747"/>
          </a:solidFill>
          <a:ln/>
        </p:spPr>
      </p:sp>
      <p:sp>
        <p:nvSpPr>
          <p:cNvPr id="14" name="Text 11"/>
          <p:cNvSpPr/>
          <p:nvPr/>
        </p:nvSpPr>
        <p:spPr>
          <a:xfrm>
            <a:off x="973931" y="5191720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Stationarity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73931" y="5615702"/>
            <a:ext cx="3281005" cy="156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Transition and emission probabilities </a:t>
            </a: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remain constant over time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The rules governing state changes and observations don't evolve during the sequence.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3478"/>
            <a:ext cx="126271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The Three Fundamental Problems of HMMs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58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application of Hidden Markov Models revolves around solving one of these three core computational challenges: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133951" y="3841194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3790" y="3614321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930" y="3784461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521637"/>
            <a:ext cx="28533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Evaluation Problem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01205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likely is a given observation sequence under the model? Solved using the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Forward algorithm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which efficiently computes the probability of the observed data.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57123" y="3500914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6962" y="3274040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7102" y="3444180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181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Decoding Problem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4671774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is the most probable sequence of hidden states that generated the observations? The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Viterbi algorithm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finds the optimal state path through dynamic programming.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980295" y="3160752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40133" y="2933879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0274" y="3104019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3841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Learning Problem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4331613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do we estimate the model parameters from training data? The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Baum-Welch algorithm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(Expectation-Maximisation) iteratively refines parameters to maximise likelihood.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5547"/>
            <a:ext cx="8857655" cy="642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Real-World Applications of HMMs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52" y="1619607"/>
            <a:ext cx="3104793" cy="3104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52" y="4930021"/>
            <a:ext cx="3104793" cy="642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Speech &amp; Handwriting Recognition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9852" y="5695831"/>
            <a:ext cx="3104793" cy="197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Converting spoken words or handwritten text into digital format by decoding hidden phonetic or character states from audio signals or pen strokes.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701" y="1619607"/>
            <a:ext cx="3104912" cy="3104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81701" y="4930140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Bioinformatics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081701" y="5374719"/>
            <a:ext cx="3104912" cy="197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Identifying functional regions in DNA sequences, such as genes, promoters, and coding regions, by modelling biological sequences as emissions from hidden genomic states.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668" y="1619607"/>
            <a:ext cx="3104912" cy="3104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43668" y="4930140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Finance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443668" y="5374719"/>
            <a:ext cx="3104912" cy="230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Modelling market regimes such as bullish, bearish, or volatile periods. Hidden states represent market conditions whilst observations are price movements and trading volumes.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5636" y="1619607"/>
            <a:ext cx="3104912" cy="31049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05636" y="4930140"/>
            <a:ext cx="2694980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Weather Forecasting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0805636" y="5374719"/>
            <a:ext cx="3104912" cy="197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Predicting atmospheric conditions by treating weather patterns as hidden states that generate observable measurements like temperature, humidity, and pressure.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1165"/>
            <a:ext cx="87082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The Mathematical Foundation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35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elegance of HMMs lies in their mathematical structure, which enables efficient computation through dynamic programming.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907256" y="2783293"/>
            <a:ext cx="12001920" cy="3602950"/>
          </a:xfrm>
          <a:prstGeom prst="roundRect">
            <a:avLst>
              <a:gd name="adj" fmla="val 5666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151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Forward Algorithm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364224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Computes the probability of observations: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1084" y="4292203"/>
            <a:ext cx="5893356" cy="958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84" y="4292203"/>
            <a:ext cx="5893356" cy="9589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084" y="553819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</a:t>
            </a:r>
            <a:r>
              <a:rPr lang="en-US" sz="17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\alpha_t(i)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the forward probability at time </a:t>
            </a:r>
            <a:r>
              <a:rPr lang="en-US" sz="17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state </a:t>
            </a:r>
            <a:r>
              <a:rPr lang="en-US" sz="17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685842" y="364224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685842" y="4292203"/>
            <a:ext cx="5893475" cy="935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85842" y="551438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793790" y="675263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These algorithms transform HMMs from theoretical constructs into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practical tools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extracting meaning from sequential data across countless domains.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Custom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Geist</vt:lpstr>
      <vt:lpstr>Arial</vt:lpstr>
      <vt:lpstr>Noto Serif SC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Mritunjay Dubey</cp:lastModifiedBy>
  <cp:revision>1</cp:revision>
  <dcterms:created xsi:type="dcterms:W3CDTF">2025-12-02T13:21:38Z</dcterms:created>
  <dcterms:modified xsi:type="dcterms:W3CDTF">2025-12-02T13:23:36Z</dcterms:modified>
</cp:coreProperties>
</file>